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105532"/>
                </a:solidFill>
              </a:defRPr>
            </a:pPr>
            <a:r>
              <a:t>SMART INDIA HACKATHON 2026</a:t>
            </a:r>
            <a:endParaRPr lang="en-US" dirty="0"/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</a:rPr>
              <a:t>Problem Statement ID:</a:t>
            </a:r>
            <a:r>
              <a:rPr b="1" sz="1500">
                <a:solidFill>
                  <a:srgbClr val="0F172A"/>
                </a:solidFill>
              </a:rPr>
              <a:t> SIH26082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</a:rPr>
              <a:t>Problem Statement Title:</a:t>
            </a:r>
            <a:r>
              <a:rPr b="0" sz="1500">
                <a:solidFill>
                  <a:srgbClr val="0F172A"/>
                </a:solidFill>
              </a:rPr>
              <a:t> Air Pollution - Weather Coupled Forecast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</a:rPr>
              <a:t>Theme:</a:t>
            </a:r>
            <a:r>
              <a:rPr b="1" sz="1500">
                <a:solidFill>
                  <a:srgbClr val="105532"/>
                </a:solidFill>
              </a:rPr>
              <a:t> Clean &amp; Green Technology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</a:rPr>
              <a:t>PS Category:</a:t>
            </a:r>
            <a:r>
              <a:rPr b="0" sz="1500">
                <a:solidFill>
                  <a:srgbClr val="0F172A"/>
                </a:solidFill>
              </a:rPr>
              <a:t> Software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</a:rPr>
              <a:t>Team ID:</a:t>
            </a:r>
            <a:r>
              <a:rPr b="0" sz="1500">
                <a:solidFill>
                  <a:srgbClr val="0F172A"/>
                </a:solidFill>
              </a:rPr>
              <a:t> 09</a:t>
            </a:r>
          </a:p>
          <a:p>
            <a:pPr>
              <a:spcAft>
                <a:spcPts val="800"/>
              </a:spcAft>
            </a:pPr>
            <a:r>
              <a:rPr b="1" sz="1500">
                <a:solidFill>
                  <a:srgbClr val="1E293B"/>
                </a:solidFill>
              </a:rPr>
              <a:t>Team Name:</a:t>
            </a:r>
            <a:r>
              <a:rPr b="1" sz="1500">
                <a:solidFill>
                  <a:srgbClr val="105532"/>
                </a:solidFill>
              </a:rPr>
              <a:t> Xtream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>
              <a:defRPr sz="2000" b="1">
                <a:solidFill>
                  <a:srgbClr val="105532"/>
                </a:solidFill>
              </a:defRPr>
            </a:pPr>
            <a:r>
              <a:t>IDEA: ATMOCAST - Weather-Coupled Air Quality Forecast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Bef>
                <a:spcPts val="600"/>
              </a:spcBef>
              <a:spcAft>
                <a:spcPts val="200"/>
              </a:spcAft>
              <a:buFont typeface="Wingdings" panose="05000000000000000000" pitchFamily="2" charset="2"/>
              <a:buChar char="v"/>
            </a:pPr>
            <a:r>
              <a:rPr b="1" sz="1300">
                <a:solidFill>
                  <a:srgbClr val="105532"/>
                </a:solidFill>
              </a:rPr>
              <a:t>1. Proposed Solution: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A physics-informed atmospheric intelligence system that couples real-time air quality metrics with meteorological dynamics to generate high-resolution, short-term coupled forecasts.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Dynamically models how wind shear, boundary layer thermal inversions, rain washout, and barometric pressure alter ground-level pollution concentrations hour by hour.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300">
                <a:solidFill>
                  <a:srgbClr val="105532"/>
                </a:solidFill>
              </a:rPr>
              <a:t>2. How It Addresses the Problem: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Bridges the gap between static chemical transport estimates and real-time microclimate variations.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Predicts critical pollution accumulation events (e.g., nocturnal cold pool inversions) and dispersion windows (e.g., afternoon wind/rain) before they occur.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Provides citizens and urban planners with actionable, forward-looking health advisories.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300">
                <a:solidFill>
                  <a:srgbClr val="105532"/>
                </a:solidFill>
              </a:rPr>
              <a:t>3. Innovation &amp; Uniqueness: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Deterministic Explainable Heuristics: Transparent numerical delta breakdown (+/- AQI) attributing exact impact to wind, rain, and inversion.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Zero-Cost Keyless Architecture: Operates on global Open-Meteo open APIs with 100% uptime fallback.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Actionable Intelligence: Recommends optimal outdoor workout windows and smart window ventilation timing.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Team: Xtream (ID: 09)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000" b="1">
                <a:solidFill>
                  <a:srgbClr val="105532"/>
                </a:solidFill>
              </a:defRPr>
            </a:pPr>
            <a:r>
              <a:t>TECHNICAL APPROACH &amp; IMPLEMENTATION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b="1" sz="1300">
                <a:solidFill>
                  <a:srgbClr val="105532"/>
                </a:solidFill>
              </a:rPr>
              <a:t>1. Technologies &amp; Architecture: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Frontend &amp; Backend: Next.js 16 (App Router, Turbopack, React 19) + TypeScript 5 (Strict Mode).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Styling &amp; Design System: Tailwind CSS v4, enterprise tokens, default Light mode with Dark mode toggle.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Data Visualization: Recharts 3.10 multi-axis interactive composed charts (Coupled AQI, Weather, Pollutants).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Data Layer: Open-Meteo APIs (Global Weather, Air Quality, Geocoding) + Synthetic Fallback Engine.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300">
                <a:solidFill>
                  <a:srgbClr val="105532"/>
                </a:solidFill>
              </a:rPr>
              <a:t>2. Methodology &amp; Mathematical Coupling Pipeline: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Ingestion Layer: Queries 48-hour hourly weather (wind, temp, humidity, pressure, rain) &amp; air quality (PM2.5, PM10, O3, NO2, SO2, CO).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Atmospheric Coupling Engine: Computes hourly delta: Coupled AQI = Raw AQI + Delta_wind + Delta_stability + Delta_precip + Delta_photochem + Delta_pressure.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Analytics &amp; Visual Deck: Displays Hero AQI gauge, EPA severity bands, 24h timeline reel, and factor diagnostics.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Decision Support: Synthesizes plain-language AI insights, best outdoor exercise windows, and vulnerable group warnings.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Team: Xtream (ID: 09)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000" b="1">
                <a:solidFill>
                  <a:srgbClr val="105532"/>
                </a:solidFill>
              </a:defRPr>
            </a:pPr>
            <a:r>
              <a:t>FEASIBILITY, VIABILITY &amp; RISK MITIGATION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b="1" sz="1300">
                <a:solidFill>
                  <a:srgbClr val="105532"/>
                </a:solidFill>
              </a:rPr>
              <a:t>1. Feasibility Analysis: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Zero Cost / High Availability: Utilizes free, open meteorological APIs without paid key dependencies or quota bottlenecks.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Edge-Ready Lightweight Compute: Mathematical coupling executes in &lt;50ms per query on standard edge runtimes.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Cross-Platform Accessibility: Ultra-responsive web application accessible across mobile, tablet, and desktop browsers with 1-click bookmarks.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300">
                <a:solidFill>
                  <a:srgbClr val="105532"/>
                </a:solidFill>
              </a:rPr>
              <a:t>2. Potential Challenges &amp; Risks: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External API Downtime / Latency: Transient network connection drops or third-party meteorological endpoint slowdowns.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Hyperlocal Variations: Urban street canyon effects and localized microclimates differing from macro weather stations.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300">
                <a:solidFill>
                  <a:srgbClr val="105532"/>
                </a:solidFill>
              </a:rPr>
              <a:t>3. Risk Mitigation Strategies: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Built-in Synthetic Atmospheric Fallback: Automatically activates physical diurnal climate models during API timeouts to ensure 100% uptime.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Offline Global Cities Index: 30+ major world cities pre-indexed for zero-latency local geocoding.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Team: Xtream (ID: 09)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000" b="1">
                <a:solidFill>
                  <a:srgbClr val="105532"/>
                </a:solidFill>
              </a:defRPr>
            </a:pPr>
            <a:r>
              <a:t>IMPACT, BENEFITS &amp; SUSTAINABILITY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b="1" sz="1300">
                <a:solidFill>
                  <a:srgbClr val="105532"/>
                </a:solidFill>
              </a:rPr>
              <a:t>1. Impact on Target Audience: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Citizens &amp; Commuters: Real-time visibility into peak smog windows and optimal travel/exercise timings.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Sensitive Demographics: Proactive alerts for asthmatics, children, and elderly citizens to prevent acute respiratory episodes.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Municipal Authorities: Data-backed triggers for anti-smog guns, street misting, and construction dust restrictions.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300">
                <a:solidFill>
                  <a:srgbClr val="105532"/>
                </a:solidFill>
              </a:rPr>
              <a:t>2. Multi-Dimensional Benefits: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Social &amp; Health: Lowers emergency hospital visits and smog-related illnesses via proactive hourly warnings.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Economic: Reduces public healthcare expenditures; optimizes municipal smog-control operational budgets.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Environmental (Clean &amp; Green): Enhances public environmental consciousness and facilitates climate-informed urban planning.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300">
                <a:solidFill>
                  <a:srgbClr val="105532"/>
                </a:solidFill>
              </a:rPr>
              <a:t>3. Scalability &amp; Alignment with Clean &amp; Green Technology: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Directly aligns with National Clean Air Programme (NCAP) and UN Sustainable Development Goals (SDG 3 &amp; SDG 11).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Ready for sensor-network expansion: Can easily ingest municipal low-cost IoT sensor feeds and satellite remote sensing data.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Team: Xtream (ID: 09)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 sz="2000" b="1">
                <a:solidFill>
                  <a:srgbClr val="105532"/>
                </a:solidFill>
              </a:defRPr>
            </a:pPr>
            <a:r>
              <a:t>RESEARCH, REFERENCES &amp; STANDARDS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b="1" sz="1300">
                <a:solidFill>
                  <a:srgbClr val="105532"/>
                </a:solidFill>
              </a:rPr>
              <a:t>1. Scientific Standards &amp; Environmental Guidelines: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US EPA (Environmental Protection Agency) Technical Assistance Document for the Reporting of Daily Air Quality (40 CFR Part 58).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World Health Organization (WHO) Global Air Quality Guidelines (2021) - Target thresholds for PM2.5, PM10, O3, NO2, SO2, CO.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Central Pollution Control Board (CPCB) India - National Air Quality Index (NAQI) Methodologies and Breakpoints.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300">
                <a:solidFill>
                  <a:srgbClr val="105532"/>
                </a:solidFill>
              </a:rPr>
              <a:t>2. Meteorological &amp; Atmospheric Dispersion Research: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Stull, R. B. (1988). An Introduction to Boundary Layer Meteorology. Kluwer Academic Publishers - Thermal Inversions and PBL Dynamics.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Seinfeld, J. H., &amp; Pandis, S. N. (2016). Atmospheric Chemistry and Physics: From Air Pollution to Climate Change (3rd Edition).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Open-Meteo Documentation &amp; Reanalysis Models (ERA5, CAMS - Copernicus Atmosphere Monitoring Service).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b="1" sz="1300">
                <a:solidFill>
                  <a:srgbClr val="105532"/>
                </a:solidFill>
              </a:rPr>
              <a:t>3. Project Repository &amp; Live Prototype: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GitHub Repository: https://github.com/NirmalSushil/SIH26082.git</a:t>
            </a:r>
          </a:p>
          <a:p>
            <a:pPr lvl="1">
              <a:spcAft>
                <a:spcPts val="200"/>
              </a:spcAft>
            </a:pPr>
            <a:r>
              <a:rPr sz="1100">
                <a:solidFill>
                  <a:srgbClr val="0F172A"/>
                </a:solidFill>
              </a:rPr>
              <a:t>- Live Prototype: Next.js 16 Coupled Forecast Dashboard with default Mumbai, Favorites/Bookmarks, and Light/Dark Modes.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Team: Xtream (ID: 09)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