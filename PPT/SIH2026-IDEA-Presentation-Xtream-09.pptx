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 algn="l">
              <a:defRPr sz="2600" b="1">
                <a:solidFill>
                  <a:srgbClr val="105532"/>
                </a:solidFill>
              </a:defRPr>
            </a:pPr>
            <a:r>
              <a:t>SMART INDIA HACKATHON 2026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2648" y="1691640"/>
            <a:ext cx="6217920" cy="4663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0F172A"/>
                </a:solidFill>
              </a:rPr>
              <a:t>Problem Statement ID:</a:t>
            </a:r>
            <a:r>
              <a:rPr b="1" sz="1700">
                <a:solidFill>
                  <a:srgbClr val="105532"/>
                </a:solidFill>
              </a:rPr>
              <a:t> SIH26082</a:t>
            </a:r>
            <a:endParaRPr lang="en-US" dirty="0"/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0F172A"/>
                </a:solidFill>
              </a:rPr>
              <a:t>Problem Statement Title:</a:t>
            </a:r>
            <a:r>
              <a:rPr b="1" sz="1700">
                <a:solidFill>
                  <a:srgbClr val="1E293B"/>
                </a:solidFill>
              </a:rPr>
              <a:t> Air Pollution - Weather Coupled Forecast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0F172A"/>
                </a:solidFill>
              </a:rPr>
              <a:t>Theme:</a:t>
            </a:r>
            <a:r>
              <a:rPr b="1" sz="1700">
                <a:solidFill>
                  <a:srgbClr val="105532"/>
                </a:solidFill>
              </a:rPr>
              <a:t> Clean &amp; Green Technology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0F172A"/>
                </a:solidFill>
              </a:rPr>
              <a:t>PS Category:</a:t>
            </a:r>
            <a:r>
              <a:rPr b="1" sz="1700">
                <a:solidFill>
                  <a:srgbClr val="1E293B"/>
                </a:solidFill>
              </a:rPr>
              <a:t> Software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0F172A"/>
                </a:solidFill>
              </a:rPr>
              <a:t>Team ID:</a:t>
            </a:r>
            <a:r>
              <a:rPr b="1" sz="1700">
                <a:solidFill>
                  <a:srgbClr val="1E293B"/>
                </a:solidFill>
              </a:rPr>
              <a:t> 09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0F172A"/>
                </a:solidFill>
              </a:rPr>
              <a:t>Team Name:</a:t>
            </a:r>
            <a:r>
              <a:rPr b="1" sz="1700">
                <a:solidFill>
                  <a:srgbClr val="105532"/>
                </a:solidFill>
              </a:rPr>
              <a:t> Xtream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926080" y="201168"/>
            <a:ext cx="6766560" cy="731520"/>
          </a:xfrm>
        </p:spPr>
        <p:txBody>
          <a:bodyPr wrap="square"/>
          <a:lstStyle/>
          <a:p>
            <a:pPr eaLnBrk="1" hangingPunct="1" algn="l">
              <a:defRPr sz="1700" b="1">
                <a:solidFill>
                  <a:srgbClr val="105532"/>
                </a:solidFill>
              </a:defRPr>
            </a:pPr>
            <a:r>
              <a:t>IDEA: ATMOCAST - Weather-Coupled Air Quality Forecast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612648" y="1143000"/>
            <a:ext cx="10881360" cy="498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v"/>
            </a:pPr>
            <a:r>
              <a:rPr b="1" sz="1550">
                <a:solidFill>
                  <a:srgbClr val="105532"/>
                </a:solidFill>
              </a:rPr>
              <a:t>1. Proposed Solution: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0F172A"/>
                </a:solidFill>
              </a:rPr>
              <a:t>• Physics-Informed Atmospheric Coupling:</a:t>
            </a:r>
            <a:r>
              <a:rPr b="0" sz="1300">
                <a:solidFill>
                  <a:srgbClr val="1E293B"/>
                </a:solidFill>
              </a:rPr>
              <a:t> Integrates real-time chemical air quality metrics with meteorological dynamics to generate high-resolution, short-term coupled forecasts.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0F172A"/>
                </a:solidFill>
              </a:rPr>
              <a:t>• Dynamic Multi-Factor Modeling:</a:t>
            </a:r>
            <a:r>
              <a:rPr b="0" sz="1300">
                <a:solidFill>
                  <a:srgbClr val="1E293B"/>
                </a:solidFill>
              </a:rPr>
              <a:t> Accurately simulates how wind shear, boundary layer thermal inversions, rain scavenging, and barometric pressure modify ground-level pollution concentrations.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b="1" sz="1550">
                <a:solidFill>
                  <a:srgbClr val="105532"/>
                </a:solidFill>
              </a:rPr>
              <a:t>2. How It Addresses the Problem: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0F172A"/>
                </a:solidFill>
              </a:rPr>
              <a:t>• Bridges Static Observation Gaps:</a:t>
            </a:r>
            <a:r>
              <a:rPr b="0" sz="1300">
                <a:solidFill>
                  <a:srgbClr val="1E293B"/>
                </a:solidFill>
              </a:rPr>
              <a:t> Replaces lagging ground sensor measurements with proactive microclimate-informed forecasts.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0F172A"/>
                </a:solidFill>
              </a:rPr>
              <a:t>• Anticipates Smog Trapping &amp; Clearing:</a:t>
            </a:r>
            <a:r>
              <a:rPr b="0" sz="1300">
                <a:solidFill>
                  <a:srgbClr val="1E293B"/>
                </a:solidFill>
              </a:rPr>
              <a:t> Detects nocturnal inversion accumulation and daytime convective dispersion windows before they occur.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b="1" sz="1550">
                <a:solidFill>
                  <a:srgbClr val="105532"/>
                </a:solidFill>
              </a:rPr>
              <a:t>3. Innovation &amp; Uniqueness: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0F172A"/>
                </a:solidFill>
              </a:rPr>
              <a:t>• Transparent Explainability:</a:t>
            </a:r>
            <a:r>
              <a:rPr b="0" sz="1300">
                <a:solidFill>
                  <a:srgbClr val="1E293B"/>
                </a:solidFill>
              </a:rPr>
              <a:t> Provides an exact mathematical delta breakdown (+/- AQI) attributing numerical points to wind, rain, and inversion.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0F172A"/>
                </a:solidFill>
              </a:rPr>
              <a:t>• Zero-Cost Keyless Architecture:</a:t>
            </a:r>
            <a:r>
              <a:rPr b="0" sz="1300">
                <a:solidFill>
                  <a:srgbClr val="1E293B"/>
                </a:solidFill>
              </a:rPr>
              <a:t> Operates entirely on public Open-Meteo APIs with a deterministic physical fallback model for 100% uptime.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612648" y="256032"/>
            <a:ext cx="2148840" cy="59436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Team: Xtream (ID: 09)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926080" y="201168"/>
            <a:ext cx="6766560" cy="731520"/>
          </a:xfrm>
        </p:spPr>
        <p:txBody>
          <a:bodyPr wrap="square"/>
          <a:lstStyle/>
          <a:p>
            <a:pPr eaLnBrk="1" hangingPunct="1" algn="l">
              <a:defRPr sz="1700" b="1">
                <a:solidFill>
                  <a:srgbClr val="105532"/>
                </a:solidFill>
              </a:defRPr>
            </a:pPr>
            <a:r>
              <a:t>TECHNICAL APPROACH &amp; IMPLEMENTATION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12648" y="1143000"/>
            <a:ext cx="10881360" cy="498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b="1" sz="1550">
                <a:solidFill>
                  <a:srgbClr val="105532"/>
                </a:solidFill>
              </a:rPr>
              <a:t>1. Technology Stack &amp; Frameworks: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0F172A"/>
                </a:solidFill>
              </a:rPr>
              <a:t>• Core Architecture:</a:t>
            </a:r>
            <a:r>
              <a:rPr b="0" sz="1300">
                <a:solidFill>
                  <a:srgbClr val="1E293B"/>
                </a:solidFill>
              </a:rPr>
              <a:t> Next.js 16 (App Router, React 19) + TypeScript 5 (Strict Mode) for high-performance edge compute.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0F172A"/>
                </a:solidFill>
              </a:rPr>
              <a:t>• UI &amp; Visualization:</a:t>
            </a:r>
            <a:r>
              <a:rPr b="0" sz="1300">
                <a:solidFill>
                  <a:srgbClr val="1E293B"/>
                </a:solidFill>
              </a:rPr>
              <a:t> Tailwind CSS v4, enterprise design tokens (Light/Dark mode), and Recharts 3.10 multi-axis interactive composed charts.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0F172A"/>
                </a:solidFill>
              </a:rPr>
              <a:t>• Data Integration:</a:t>
            </a:r>
            <a:r>
              <a:rPr b="0" sz="1300">
                <a:solidFill>
                  <a:srgbClr val="1E293B"/>
                </a:solidFill>
              </a:rPr>
              <a:t> Open-Meteo Forecast, Air Quality, and Geocoding APIs coupled with a built-in synthetic atmospheric model.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b="1" sz="1550">
                <a:solidFill>
                  <a:srgbClr val="105532"/>
                </a:solidFill>
              </a:rPr>
              <a:t>2. Methodology &amp; Coupling Pipeline: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0F172A"/>
                </a:solidFill>
              </a:rPr>
              <a:t>• Atmospheric Ingestion:</a:t>
            </a:r>
            <a:r>
              <a:rPr b="0" sz="1300">
                <a:solidFill>
                  <a:srgbClr val="1E293B"/>
                </a:solidFill>
              </a:rPr>
              <a:t> Streams 48-hour hourly weather (wind, gusts, temp, humidity, pressure, rain) &amp; pollutants (PM2.5, PM10, O3, NO2, SO2, CO).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0F172A"/>
                </a:solidFill>
              </a:rPr>
              <a:t>• Coupling Heuristic Engine:</a:t>
            </a:r>
            <a:r>
              <a:rPr b="0" sz="1300">
                <a:solidFill>
                  <a:srgbClr val="1E293B"/>
                </a:solidFill>
              </a:rPr>
              <a:t> Calculates: Coupled AQI = Raw AQI + Delta_wind + Delta_stability + Delta_precip + Delta_photochem + Delta_pressure.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0F172A"/>
                </a:solidFill>
              </a:rPr>
              <a:t>• Actionable Analytics Deck:</a:t>
            </a:r>
            <a:r>
              <a:rPr b="0" sz="1300">
                <a:solidFill>
                  <a:srgbClr val="1E293B"/>
                </a:solidFill>
              </a:rPr>
              <a:t> Real-time Hero AQI card, 24h timeline reel, factor diagnostics, and optimal outdoor activity recommendations.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612648" y="256032"/>
            <a:ext cx="2148840" cy="59436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Team: Xtream (ID: 09)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926080" y="201168"/>
            <a:ext cx="6766560" cy="731520"/>
          </a:xfrm>
        </p:spPr>
        <p:txBody>
          <a:bodyPr wrap="square"/>
          <a:lstStyle/>
          <a:p>
            <a:pPr eaLnBrk="1" hangingPunct="1" algn="l">
              <a:defRPr sz="1700" b="1">
                <a:solidFill>
                  <a:srgbClr val="105532"/>
                </a:solidFill>
              </a:defRPr>
            </a:pPr>
            <a:r>
              <a:t>FEASIBILITY, VIABILITY &amp; RISK MITIGATION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12648" y="1143000"/>
            <a:ext cx="10881360" cy="498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b="1" sz="1550">
                <a:solidFill>
                  <a:srgbClr val="105532"/>
                </a:solidFill>
              </a:rPr>
              <a:t>1. Feasibility &amp; Operational Viability: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0F172A"/>
                </a:solidFill>
              </a:rPr>
              <a:t>• Zero API Overhead &amp; High Availability:</a:t>
            </a:r>
            <a:r>
              <a:rPr b="0" sz="1300">
                <a:solidFill>
                  <a:srgbClr val="1E293B"/>
                </a:solidFill>
              </a:rPr>
              <a:t> Free, keyless public infrastructure eliminates subscription costs and quota restrictions.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0F172A"/>
                </a:solidFill>
              </a:rPr>
              <a:t>• Ultra-Low Latency Execution:</a:t>
            </a:r>
            <a:r>
              <a:rPr b="0" sz="1300">
                <a:solidFill>
                  <a:srgbClr val="1E293B"/>
                </a:solidFill>
              </a:rPr>
              <a:t> Mathematical coupling heuristics compute complete 48-hour trajectories in &lt;50ms per query.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0F172A"/>
                </a:solidFill>
              </a:rPr>
              <a:t>• Cross-Platform Responsive Access:</a:t>
            </a:r>
            <a:r>
              <a:rPr b="0" sz="1300">
                <a:solidFill>
                  <a:srgbClr val="1E293B"/>
                </a:solidFill>
              </a:rPr>
              <a:t> Accessible on all devices with 1-click location bookmarking and GPS integration.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b="1" sz="1550">
                <a:solidFill>
                  <a:srgbClr val="105532"/>
                </a:solidFill>
              </a:rPr>
              <a:t>2. Potential Challenges &amp; Risks: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0F172A"/>
                </a:solidFill>
              </a:rPr>
              <a:t>• External Network Latency / API Downtime:</a:t>
            </a:r>
            <a:r>
              <a:rPr b="0" sz="1300">
                <a:solidFill>
                  <a:srgbClr val="1E293B"/>
                </a:solidFill>
              </a:rPr>
              <a:t> Risk of third-party server slowdowns or connection timeouts.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0F172A"/>
                </a:solidFill>
              </a:rPr>
              <a:t>• Microclimatic Urban Variations:</a:t>
            </a:r>
            <a:r>
              <a:rPr b="0" sz="1300">
                <a:solidFill>
                  <a:srgbClr val="1E293B"/>
                </a:solidFill>
              </a:rPr>
              <a:t> Localized urban street canyons differing from macro meteorological stations.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b="1" sz="1550">
                <a:solidFill>
                  <a:srgbClr val="105532"/>
                </a:solidFill>
              </a:rPr>
              <a:t>3. Risk Mitigation Strategies: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0F172A"/>
                </a:solidFill>
              </a:rPr>
              <a:t>• Synthetic Atmospheric Fallback:</a:t>
            </a:r>
            <a:r>
              <a:rPr b="0" sz="1300">
                <a:solidFill>
                  <a:srgbClr val="1E293B"/>
                </a:solidFill>
              </a:rPr>
              <a:t> Automatically activates physical diurnal climate algorithms during network timeouts to guarantee zero-downtime.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0F172A"/>
                </a:solidFill>
              </a:rPr>
              <a:t>• Pre-Indexed Global City Database:</a:t>
            </a:r>
            <a:r>
              <a:rPr b="0" sz="1300">
                <a:solidFill>
                  <a:srgbClr val="1E293B"/>
                </a:solidFill>
              </a:rPr>
              <a:t> Instant local geocoding for 30+ major world hubs without network round-trips.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612648" y="256032"/>
            <a:ext cx="2148840" cy="59436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Team: Xtream (ID: 09)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926080" y="201168"/>
            <a:ext cx="6766560" cy="731520"/>
          </a:xfrm>
        </p:spPr>
        <p:txBody>
          <a:bodyPr wrap="square"/>
          <a:lstStyle/>
          <a:p>
            <a:pPr eaLnBrk="1" hangingPunct="1" algn="l">
              <a:defRPr sz="1700" b="1">
                <a:solidFill>
                  <a:srgbClr val="105532"/>
                </a:solidFill>
              </a:defRPr>
            </a:pPr>
            <a:r>
              <a:t>IMPACT, BENEFITS &amp; SUSTAINABILITY (CLEAN &amp; GREEN)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12648" y="1143000"/>
            <a:ext cx="10881360" cy="498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b="1" sz="1550">
                <a:solidFill>
                  <a:srgbClr val="105532"/>
                </a:solidFill>
              </a:rPr>
              <a:t>1. Target Audience Impact: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0F172A"/>
                </a:solidFill>
              </a:rPr>
              <a:t>• Citizens &amp; Commuters:</a:t>
            </a:r>
            <a:r>
              <a:rPr b="0" sz="1300">
                <a:solidFill>
                  <a:srgbClr val="1E293B"/>
                </a:solidFill>
              </a:rPr>
              <a:t> Real-time visibility into peak smog windows and cleanest outdoor travel/exercise hours.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0F172A"/>
                </a:solidFill>
              </a:rPr>
              <a:t>• Sensitive Demographics:</a:t>
            </a:r>
            <a:r>
              <a:rPr b="0" sz="1300">
                <a:solidFill>
                  <a:srgbClr val="1E293B"/>
                </a:solidFill>
              </a:rPr>
              <a:t> Proactive alerts for asthmatics, children, and elderly citizens to prevent acute respiratory episodes.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0F172A"/>
                </a:solidFill>
              </a:rPr>
              <a:t>• Municipal Authorities:</a:t>
            </a:r>
            <a:r>
              <a:rPr b="0" sz="1300">
                <a:solidFill>
                  <a:srgbClr val="1E293B"/>
                </a:solidFill>
              </a:rPr>
              <a:t> Data-driven triggers for anti-smog guns, street misting, and construction dust regulations.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b="1" sz="1550">
                <a:solidFill>
                  <a:srgbClr val="105532"/>
                </a:solidFill>
              </a:rPr>
              <a:t>2. Multi-Dimensional Benefits: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0F172A"/>
                </a:solidFill>
              </a:rPr>
              <a:t>• Social &amp; Healthcare:</a:t>
            </a:r>
            <a:r>
              <a:rPr b="0" sz="1300">
                <a:solidFill>
                  <a:srgbClr val="1E293B"/>
                </a:solidFill>
              </a:rPr>
              <a:t> Substantially lowers emergency hospital visits through forward-looking smog warnings.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0F172A"/>
                </a:solidFill>
              </a:rPr>
              <a:t>• Economic:</a:t>
            </a:r>
            <a:r>
              <a:rPr b="0" sz="1300">
                <a:solidFill>
                  <a:srgbClr val="1E293B"/>
                </a:solidFill>
              </a:rPr>
              <a:t> Reduces healthcare expenditures and optimizes municipal pollution-mitigation budgets.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0F172A"/>
                </a:solidFill>
              </a:rPr>
              <a:t>• Environmental (Clean &amp; Green):</a:t>
            </a:r>
            <a:r>
              <a:rPr b="0" sz="1300">
                <a:solidFill>
                  <a:srgbClr val="1E293B"/>
                </a:solidFill>
              </a:rPr>
              <a:t> Aligns with National Clean Air Programme (NCAP) and UN SDGs (SDG 3: Good Health &amp; SDG 11: Sustainable Cities).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612648" y="256032"/>
            <a:ext cx="2148840" cy="59436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Team: Xtream (ID: 09)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926080" y="201168"/>
            <a:ext cx="6766560" cy="731520"/>
          </a:xfrm>
        </p:spPr>
        <p:txBody>
          <a:bodyPr wrap="square"/>
          <a:lstStyle/>
          <a:p>
            <a:pPr eaLnBrk="1" hangingPunct="1" algn="l">
              <a:defRPr sz="1700" b="1">
                <a:solidFill>
                  <a:srgbClr val="105532"/>
                </a:solidFill>
              </a:defRPr>
            </a:pPr>
            <a:r>
              <a:t>RESEARCH, REFERENCES &amp; STANDARDS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12648" y="1143000"/>
            <a:ext cx="10881360" cy="498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b="1" sz="1550">
                <a:solidFill>
                  <a:srgbClr val="105532"/>
                </a:solidFill>
              </a:rPr>
              <a:t>1. Environmental Standards &amp; Regulatory Frameworks: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0F172A"/>
                </a:solidFill>
              </a:rPr>
              <a:t>• US EPA Air Quality Index Standards:</a:t>
            </a:r>
            <a:r>
              <a:rPr b="0" sz="1300">
                <a:solidFill>
                  <a:srgbClr val="1E293B"/>
                </a:solidFill>
              </a:rPr>
              <a:t> Technical Assistance Document for Daily Air Quality Reporting (40 CFR Part 58).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0F172A"/>
                </a:solidFill>
              </a:rPr>
              <a:t>• World Health Organization (WHO):</a:t>
            </a:r>
            <a:r>
              <a:rPr b="0" sz="1300">
                <a:solidFill>
                  <a:srgbClr val="1E293B"/>
                </a:solidFill>
              </a:rPr>
              <a:t> Global Air Quality Guidelines (2021) — Health thresholds for PM2.5, PM10, O3, NO2, SO2, CO.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0F172A"/>
                </a:solidFill>
              </a:rPr>
              <a:t>• Central Pollution Control Board (CPCB):</a:t>
            </a:r>
            <a:r>
              <a:rPr b="0" sz="1300">
                <a:solidFill>
                  <a:srgbClr val="1E293B"/>
                </a:solidFill>
              </a:rPr>
              <a:t> National Air Quality Index (NAQI) breakpoints and category scales.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b="1" sz="1550">
                <a:solidFill>
                  <a:srgbClr val="105532"/>
                </a:solidFill>
              </a:rPr>
              <a:t>2. Meteorological &amp; Atmospheric Research: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0F172A"/>
                </a:solidFill>
              </a:rPr>
              <a:t>• Boundary Layer Meteorology:</a:t>
            </a:r>
            <a:r>
              <a:rPr b="0" sz="1300">
                <a:solidFill>
                  <a:srgbClr val="1E293B"/>
                </a:solidFill>
              </a:rPr>
              <a:t> Stull, R. B. (1988) — Planetary Boundary Layer dynamics and thermal inversion mechanics.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0F172A"/>
                </a:solidFill>
              </a:rPr>
              <a:t>• Atmospheric Chemistry &amp; Physics:</a:t>
            </a:r>
            <a:r>
              <a:rPr b="0" sz="1300">
                <a:solidFill>
                  <a:srgbClr val="1E293B"/>
                </a:solidFill>
              </a:rPr>
              <a:t> Seinfeld, J. H., &amp; Pandis, S. N. (2016) — Wet deposition, aerosol growth, and photochemical smog.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b="1" sz="1550">
                <a:solidFill>
                  <a:srgbClr val="105532"/>
                </a:solidFill>
              </a:rPr>
              <a:t>3. Project Repository &amp; Working Prototype: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0F172A"/>
                </a:solidFill>
              </a:rPr>
              <a:t>• GitHub Repository:</a:t>
            </a:r>
            <a:r>
              <a:rPr b="0" sz="1300">
                <a:solidFill>
                  <a:srgbClr val="1E293B"/>
                </a:solidFill>
              </a:rPr>
              <a:t> https://github.com/NirmalSushil/SIH26082.git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0F172A"/>
                </a:solidFill>
              </a:rPr>
              <a:t>• Live Prototype:</a:t>
            </a:r>
            <a:r>
              <a:rPr b="0" sz="1300">
                <a:solidFill>
                  <a:srgbClr val="1E293B"/>
                </a:solidFill>
              </a:rPr>
              <a:t> Next.js 16 Coupled Forecast Dashboard with default Mumbai, Favorites/Bookmarks, and Light/Dark Modes.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612648" y="256032"/>
            <a:ext cx="2148840" cy="59436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Team: Xtream (ID: 09)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